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2520000"/>
            <a:ext cx="3600000" cy="43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900000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Calibri"/>
              </a:rPr>
              <a:t>Pumplo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70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7316"/>
                </a:solidFill>
                <a:latin typeface="Calibri"/>
              </a:rPr>
              <a:t>3-letá strategie 2026–2029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B0C4DE"/>
                </a:solidFill>
                <a:latin typeface="Calibri"/>
              </a:rPr>
              <a:t>Retention platforma pro nezávislé posilovny v CEE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68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B0C4DE"/>
                </a:solidFill>
                <a:latin typeface="Calibri"/>
              </a:rPr>
              <a:t>1. května 2026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B0C4DE"/>
                </a:solidFill>
                <a:latin typeface="Calibri"/>
              </a:rPr>
              <a:t>David Novotný, CEO/CTO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5940000"/>
            <a:ext cx="7200000" cy="324000"/>
          </a:xfrm>
          <a:prstGeom prst="rect">
            <a:avLst/>
          </a:prstGeom>
          <a:solidFill>
            <a:srgbClr val="2A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59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A050"/>
                </a:solidFill>
                <a:latin typeface="Calibri"/>
              </a:rPr>
              <a:t>🔒  Důvěrný dokument — interní distribuce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Problém: Nezávislé posilovny přichází o členy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972000"/>
            <a:ext cx="664819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  <a:latin typeface="Calibri"/>
              </a:rPr>
              <a:t>•  30–50 % nových členů odchází do 6 měsíců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764000"/>
            <a:ext cx="664819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  <a:latin typeface="Calibri"/>
              </a:rPr>
              <a:t>•  Řetězcové posilovny (Form Factory, FitPark)
   berou jejich zákazníky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556000"/>
            <a:ext cx="664819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  <a:latin typeface="Calibri"/>
              </a:rPr>
              <a:t>•  Žádný dostupný software zaměřený na RETENTION
   v CEE — jen booking systémy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348000"/>
            <a:ext cx="664819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  <a:latin typeface="Calibri"/>
              </a:rPr>
              <a:t>•  7 350 nezávislých posiloven v CEE bez řešení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8192" y="972000"/>
            <a:ext cx="5077007" cy="36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2192" y="1115999"/>
            <a:ext cx="4789007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Calibri"/>
              </a:rPr>
              <a:t>Tržní příležitost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2192" y="1656000"/>
            <a:ext cx="4789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2192" y="1836000"/>
            <a:ext cx="4789007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705M CZK/rok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2192" y="2088000"/>
            <a:ext cx="478900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Calibri"/>
              </a:rPr>
              <a:t>(CEE)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2192" y="2700000"/>
            <a:ext cx="4789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2192" y="2880000"/>
            <a:ext cx="4789007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192M CZK/rok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2192" y="3132000"/>
            <a:ext cx="478900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Calibri"/>
              </a:rPr>
              <a:t>(CZ+SK)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2192" y="3744000"/>
            <a:ext cx="4789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SOM 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2192" y="3924000"/>
            <a:ext cx="4789007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47M CZK ARR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Pumplo: Retention-first platforma pro nezávislé gymy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3776400" cy="32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044000"/>
            <a:ext cx="356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🏋️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620000"/>
            <a:ext cx="356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Calibri"/>
              </a:rPr>
              <a:t>Personalizované
tréninkové plány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2232000"/>
            <a:ext cx="35604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C8D8EC"/>
                </a:solidFill>
                <a:latin typeface="Calibri"/>
              </a:rPr>
              <a:t>AI-driven plány pro každého člena.
Respektuje vybavení gymu.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8400" y="900000"/>
            <a:ext cx="3776400" cy="32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6400" y="1044000"/>
            <a:ext cx="356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6400" y="1620000"/>
            <a:ext cx="356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Calibri"/>
              </a:rPr>
              <a:t>Gamifikace
a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6400" y="2232000"/>
            <a:ext cx="35604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C8D8EC"/>
                </a:solidFill>
                <a:latin typeface="Calibri"/>
              </a:rPr>
              <a:t>Streak systém, výzvy, bodování.
Sociální sdílení pokroků.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800" y="900000"/>
            <a:ext cx="3776400" cy="32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6800" y="1044000"/>
            <a:ext cx="356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6800" y="1620000"/>
            <a:ext cx="356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Calibri"/>
              </a:rPr>
              <a:t>Datová analytika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6800" y="2232000"/>
            <a:ext cx="35604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C8D8EC"/>
                </a:solidFill>
                <a:latin typeface="Calibri"/>
              </a:rPr>
              <a:t>Churn signals, retention dashboard.
Předvídej odhody předem.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4320000"/>
            <a:ext cx="11617200" cy="468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4374000"/>
            <a:ext cx="114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3A5F"/>
                </a:solidFill>
                <a:latin typeface="Calibri"/>
              </a:rPr>
              <a:t>Pro majitele gymu (admin dashboard) + pro členy (mobilní app)   |   Postaven na: Lovable + Supabase   |   Rychlost: 10× vs. legacy 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Tři příjmové proudy — diversifikovaný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3776400" cy="34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00" y="900000"/>
            <a:ext cx="3776400" cy="9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044000"/>
            <a:ext cx="356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9731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356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Gym B2B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727999"/>
            <a:ext cx="356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  <a:latin typeface="Calibri"/>
              </a:rPr>
              <a:t>5 000 CZK/měs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2232000"/>
            <a:ext cx="3560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Majitel posilovny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2555999"/>
            <a:ext cx="356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C8D8EC"/>
                </a:solidFill>
                <a:latin typeface="Calibri"/>
              </a:rPr>
              <a:t>"Flat cena, žádný tier upsell"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3816001"/>
            <a:ext cx="3560400" cy="3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000" y="3834000"/>
            <a:ext cx="356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Spuštění: Jun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8400" y="900000"/>
            <a:ext cx="3776400" cy="3420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8400" y="900000"/>
            <a:ext cx="3776400" cy="9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6400" y="1044000"/>
            <a:ext cx="356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6400" y="1332000"/>
            <a:ext cx="356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B2C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6400" y="1727999"/>
            <a:ext cx="356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  <a:latin typeface="Calibri"/>
              </a:rPr>
              <a:t>149 CZK/měs/člen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6400" y="2232000"/>
            <a:ext cx="3560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Gym členové přímo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6400" y="2555999"/>
            <a:ext cx="356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C8D8EC"/>
                </a:solidFill>
                <a:latin typeface="Calibri"/>
              </a:rPr>
              <a:t>"70% Pumplu, 30% gymu"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6400" y="3816001"/>
            <a:ext cx="3560400" cy="3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6400" y="3834000"/>
            <a:ext cx="356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Spuštění: Q1 2027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800" y="900000"/>
            <a:ext cx="3776400" cy="3420000"/>
          </a:xfrm>
          <a:prstGeom prst="rect">
            <a:avLst/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8800" y="900000"/>
            <a:ext cx="3776400" cy="9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6800" y="1044000"/>
            <a:ext cx="356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97316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6800" y="1332000"/>
            <a:ext cx="356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Trainer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6800" y="1727999"/>
            <a:ext cx="356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  <a:latin typeface="Calibri"/>
              </a:rPr>
              <a:t>800 CZK/měs/trenér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6800" y="2232000"/>
            <a:ext cx="3560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Fitness trenéři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6800" y="2555999"/>
            <a:ext cx="356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C8D8EC"/>
                </a:solidFill>
                <a:latin typeface="Calibri"/>
              </a:rPr>
              <a:t>"Správa klientů, plány"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6800" y="3816001"/>
            <a:ext cx="3560400" cy="3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6800" y="3834000"/>
            <a:ext cx="356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Spuštění: Q2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4464000"/>
            <a:ext cx="1161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4748B"/>
                </a:solidFill>
                <a:latin typeface="Calibri"/>
              </a:rPr>
              <a:t>Kombinovaný příjem na gym (2029): ~9 800 CZK/měs vs. vstupní 5 000 CZK — bez jediného upselu na gymu samotném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Finanční model 2026–2029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35999"/>
            <a:ext cx="1980000" cy="486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025999"/>
            <a:ext cx="1872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268000" y="935999"/>
            <a:ext cx="1800000" cy="486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8000" y="102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Dec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8000" y="935999"/>
            <a:ext cx="1800000" cy="486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8000" y="102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Dec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8000" y="935999"/>
            <a:ext cx="1800000" cy="486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58000" y="102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Dec 2028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8000" y="935999"/>
            <a:ext cx="1800000" cy="486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8000" y="102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Dec 2029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421999"/>
            <a:ext cx="198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000" y="1511999"/>
            <a:ext cx="1872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Platící gymy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1421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8000" y="151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8000" y="1421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8000" y="151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68000" y="1421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58000" y="151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8000" y="1421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8000" y="151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400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1907999"/>
            <a:ext cx="198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000" y="1997999"/>
            <a:ext cx="1872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Gym B2B MRR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8000" y="1907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8000" y="1997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150K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8000" y="1907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58000" y="1997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400K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8000" y="1907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58000" y="1997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1M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68000" y="1907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8000" y="1997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2M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2393999"/>
            <a:ext cx="198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6000" y="2483999"/>
            <a:ext cx="1872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B2C Premium MRR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8000" y="2393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8000" y="2483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8000" y="2393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8000" y="2483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80K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68000" y="2393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58000" y="2483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350K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68000" y="2393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58000" y="2483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1,2M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00" y="2879999"/>
            <a:ext cx="198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000" y="2969999"/>
            <a:ext cx="1872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Trainer MRR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68000" y="2879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58000" y="2969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68000" y="2879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58000" y="2969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48K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68000" y="2879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58000" y="2969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200K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68000" y="2879999"/>
            <a:ext cx="180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8000" y="2969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E293B"/>
                </a:solidFill>
                <a:latin typeface="Calibri"/>
              </a:rPr>
              <a:t>720K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00" y="3365999"/>
            <a:ext cx="198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6000" y="3455999"/>
            <a:ext cx="1872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Celkem MRR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68000" y="3365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8000" y="345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150K CZK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68000" y="3365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58000" y="345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528K CZK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68000" y="3365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58000" y="345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1,55M CZK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68000" y="3365999"/>
            <a:ext cx="1800000" cy="486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58000" y="3455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3,92M CZK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00" y="3851999"/>
            <a:ext cx="1980000" cy="486000"/>
          </a:xfrm>
          <a:prstGeom prst="rect">
            <a:avLst/>
          </a:prstGeom>
          <a:solidFill>
            <a:srgbClr val="D0E8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6000" y="3941999"/>
            <a:ext cx="1872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ARR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68000" y="3851999"/>
            <a:ext cx="1800000" cy="486000"/>
          </a:xfrm>
          <a:prstGeom prst="rect">
            <a:avLst/>
          </a:prstGeom>
          <a:solidFill>
            <a:srgbClr val="D0E8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58000" y="394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1,8M CZK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68000" y="3851999"/>
            <a:ext cx="1800000" cy="486000"/>
          </a:xfrm>
          <a:prstGeom prst="rect">
            <a:avLst/>
          </a:prstGeom>
          <a:solidFill>
            <a:srgbClr val="D0E8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58000" y="394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6,3M CZK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68000" y="3851999"/>
            <a:ext cx="1800000" cy="486000"/>
          </a:xfrm>
          <a:prstGeom prst="rect">
            <a:avLst/>
          </a:prstGeom>
          <a:solidFill>
            <a:srgbClr val="D0E8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58000" y="394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18,6M CZK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68000" y="3851999"/>
            <a:ext cx="1800000" cy="486000"/>
          </a:xfrm>
          <a:prstGeom prst="rect">
            <a:avLst/>
          </a:prstGeom>
          <a:solidFill>
            <a:srgbClr val="D0E8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58000" y="3941999"/>
            <a:ext cx="1638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E293B"/>
                </a:solidFill>
                <a:latin typeface="Calibri"/>
              </a:rPr>
              <a:t>47M CZK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8000" y="4517999"/>
            <a:ext cx="5040000" cy="396000"/>
          </a:xfrm>
          <a:prstGeom prst="rect">
            <a:avLst/>
          </a:prstGeom>
          <a:solidFill>
            <a:srgbClr val="FFE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2000" y="4561199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⚡  Break-even: Q1 2027 — 30 gymů pokryje burn rate plně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Sales motion: founder-led → scalable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2195999"/>
            <a:ext cx="11617200" cy="43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00" y="935999"/>
            <a:ext cx="2832300" cy="3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935999"/>
            <a:ext cx="28323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6000" y="1061998"/>
            <a:ext cx="503999" cy="503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1079999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619999"/>
            <a:ext cx="2616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1871999"/>
            <a:ext cx="2616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Founder-led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2231999"/>
            <a:ext cx="26163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Door-to-door Olomouc + Brno
David osobně prodává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4068000"/>
            <a:ext cx="2688300" cy="72000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4103999"/>
            <a:ext cx="2616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Cíl: 30 gymů
CAC: 5K CZK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7100" y="935999"/>
            <a:ext cx="2832300" cy="3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67100" y="935999"/>
            <a:ext cx="28323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5100" y="1061998"/>
            <a:ext cx="503999" cy="503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5100" y="1079999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5100" y="1619999"/>
            <a:ext cx="2616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Q1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5100" y="1871999"/>
            <a:ext cx="2616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Outbound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100" y="2231999"/>
            <a:ext cx="26163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Sales rep #1
Cold email + Praha push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9100" y="4068000"/>
            <a:ext cx="2688300" cy="72000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1100" y="4103999"/>
            <a:ext cx="2616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Cíl: 50 gymů
CAC: 12K CZK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6200" y="935999"/>
            <a:ext cx="2832300" cy="3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46200" y="935999"/>
            <a:ext cx="28323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4200" y="1061998"/>
            <a:ext cx="503999" cy="503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4200" y="1079999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4200" y="1619999"/>
            <a:ext cx="2616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H2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4200" y="1871999"/>
            <a:ext cx="2616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Inbound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4200" y="2231999"/>
            <a:ext cx="26163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SEO, case studies
Webinars, affiliate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18200" y="4068000"/>
            <a:ext cx="2688300" cy="72000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0200" y="4103999"/>
            <a:ext cx="2616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Cíl: 80 gymů
CAC: 8K CZK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25300" y="935999"/>
            <a:ext cx="2832300" cy="3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25300" y="935999"/>
            <a:ext cx="28323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3300" y="1061998"/>
            <a:ext cx="503999" cy="503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3300" y="1079999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3300" y="1619999"/>
            <a:ext cx="2616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2028+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3300" y="1871999"/>
            <a:ext cx="2616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Multi-country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3300" y="2231999"/>
            <a:ext cx="26163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SK, PL
Channel partnerships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97300" y="4068000"/>
            <a:ext cx="2688300" cy="72000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9300" y="4103999"/>
            <a:ext cx="26163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Cíl: 200+ gymů
CAC: 10K CZK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Unit Economics — výjimečně silné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35999"/>
            <a:ext cx="3824400" cy="198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00" y="935999"/>
            <a:ext cx="38244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079999"/>
            <a:ext cx="353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LTV/CAC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367999"/>
            <a:ext cx="3536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31×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123999"/>
            <a:ext cx="3536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(2027)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4400" y="935999"/>
            <a:ext cx="3824400" cy="1980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4400" y="935999"/>
            <a:ext cx="38244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8400" y="1079999"/>
            <a:ext cx="353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Payback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400" y="1367999"/>
            <a:ext cx="3536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1,3 měs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0800" y="935999"/>
            <a:ext cx="3824400" cy="198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0800" y="935999"/>
            <a:ext cx="38244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4800" y="1079999"/>
            <a:ext cx="353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Gross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4800" y="1367999"/>
            <a:ext cx="3536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82%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3023999"/>
            <a:ext cx="3824400" cy="198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00" y="3023999"/>
            <a:ext cx="38244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3167999"/>
            <a:ext cx="353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Annual churn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455999"/>
            <a:ext cx="3536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&lt;5%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4400" y="3023999"/>
            <a:ext cx="3824400" cy="1980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84400" y="3023999"/>
            <a:ext cx="38244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8400" y="3167999"/>
            <a:ext cx="353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NRR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8400" y="3455999"/>
            <a:ext cx="3536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110%+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8400" y="4211999"/>
            <a:ext cx="3536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(expansion)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0800" y="3023999"/>
            <a:ext cx="3824400" cy="19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0800" y="3023999"/>
            <a:ext cx="38244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4800" y="3167999"/>
            <a:ext cx="353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B2C konverze cíl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4800" y="3455999"/>
            <a:ext cx="3536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5219999"/>
            <a:ext cx="11617200" cy="43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5273999"/>
            <a:ext cx="1147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Calibri"/>
              </a:rPr>
              <a:t>Pro srovnání: benchmark SaaS LTV/CAC = 3–4×.  Pumplo: 31×  →  top decil globálních B2B SaaS startupů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Roadmapa 2026–2029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2502000"/>
            <a:ext cx="11617200" cy="43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000" y="972000"/>
            <a:ext cx="1864200" cy="14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080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2026 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368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6100" y="2448000"/>
            <a:ext cx="1800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2646000"/>
            <a:ext cx="1864200" cy="219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2718000"/>
            <a:ext cx="17922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D5EC"/>
                </a:solidFill>
                <a:latin typeface="Calibri"/>
              </a:rPr>
              <a:t>• Eurogym full deploy
• App stores (iOS + Android)
• Stripe billing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0200" y="972000"/>
            <a:ext cx="1864200" cy="1440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6200" y="1080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2026 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6200" y="1368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30 gymů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2300" y="2448000"/>
            <a:ext cx="1800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60200" y="2646000"/>
            <a:ext cx="1864200" cy="2196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96200" y="2718000"/>
            <a:ext cx="17922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D5EC"/>
                </a:solidFill>
                <a:latin typeface="Calibri"/>
              </a:rPr>
              <a:t>• Olomouc + Brno
• Case study #1
• Newton Angels seed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6400" y="972000"/>
            <a:ext cx="1864200" cy="14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2400" y="1080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2027 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2400" y="1368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Praha push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8500" y="2448000"/>
            <a:ext cx="1800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6400" y="2646000"/>
            <a:ext cx="1864200" cy="219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2400" y="2718000"/>
            <a:ext cx="17922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D5EC"/>
                </a:solidFill>
                <a:latin typeface="Calibri"/>
              </a:rPr>
              <a:t>• B2C premium soft launch
• Sales rep #1 hired
• Break-even dosažen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32600" y="972000"/>
            <a:ext cx="1864200" cy="1440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8600" y="1080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2027 Q2–Q3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8600" y="1368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Expanze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4700" y="2448000"/>
            <a:ext cx="1800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32600" y="2646000"/>
            <a:ext cx="1864200" cy="2196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8600" y="2718000"/>
            <a:ext cx="17922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D5EC"/>
                </a:solidFill>
                <a:latin typeface="Calibri"/>
              </a:rPr>
              <a:t>• Trainer platform
• SK lokalizace
• Docházka integrace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8800" y="972000"/>
            <a:ext cx="1864200" cy="14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4800" y="1080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4800" y="1368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200 gymů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0900" y="2448000"/>
            <a:ext cx="1800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8800" y="2646000"/>
            <a:ext cx="1864200" cy="219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4800" y="2718000"/>
            <a:ext cx="17922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D5EC"/>
                </a:solidFill>
                <a:latin typeface="Calibri"/>
              </a:rPr>
              <a:t>• SK + PL launch
• Series A option
• 2. sales rep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05000" y="972000"/>
            <a:ext cx="1864200" cy="1440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1000" y="1080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2029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1000" y="1368000"/>
            <a:ext cx="1792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400 gymů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47100" y="2448000"/>
            <a:ext cx="180000" cy="1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05000" y="2646000"/>
            <a:ext cx="1864200" cy="2196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000" y="2718000"/>
            <a:ext cx="17922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D5EC"/>
                </a:solidFill>
                <a:latin typeface="Calibri"/>
              </a:rPr>
              <a:t>• Exit readiness
• M&amp;A advisor
• 3+ zemí aktivní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Funding: akcelerační, ne záchranný kapitál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35999"/>
            <a:ext cx="2808300" cy="41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00" y="935999"/>
            <a:ext cx="2808300" cy="9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079999"/>
            <a:ext cx="2592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403999"/>
            <a:ext cx="2592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727999"/>
            <a:ext cx="2592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500K CZK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2231999"/>
            <a:ext cx="25923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Newton Angels
2% equity
@ 24,5M pre-money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4175999"/>
            <a:ext cx="2664300" cy="79200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4211999"/>
            <a:ext cx="25923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Calibri"/>
              </a:rPr>
              <a:t>Použití: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4391999"/>
            <a:ext cx="2592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/>
              </a:rPr>
              <a:t>Sales push H2 2026
Runway 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2300" y="2897999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8300" y="935999"/>
            <a:ext cx="2808300" cy="4140000"/>
          </a:xfrm>
          <a:prstGeom prst="rect">
            <a:avLst/>
          </a:prstGeom>
          <a:solidFill>
            <a:srgbClr val="2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8300" y="935999"/>
            <a:ext cx="2808300" cy="9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4600" y="1079999"/>
            <a:ext cx="1080000" cy="25199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00" y="1097999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OPCIONÁLNÍ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6300" y="1079999"/>
            <a:ext cx="2592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6300" y="1403999"/>
            <a:ext cx="2592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Q2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6300" y="1727999"/>
            <a:ext cx="2592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3–5M CZK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6300" y="2231999"/>
            <a:ext cx="25923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@ 30-40M pre-money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300" y="4175999"/>
            <a:ext cx="2664300" cy="79200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2300" y="4211999"/>
            <a:ext cx="25923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Calibri"/>
              </a:rPr>
              <a:t>Použití: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2300" y="4391999"/>
            <a:ext cx="2592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/>
              </a:rPr>
              <a:t>Trigger: SK/PL
akcelerace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600" y="2897999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8600" y="935999"/>
            <a:ext cx="2808300" cy="4140000"/>
          </a:xfrm>
          <a:prstGeom prst="rect">
            <a:avLst/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8600" y="935999"/>
            <a:ext cx="2808300" cy="9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24900" y="1079999"/>
            <a:ext cx="1080000" cy="25199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4900" y="1097999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OPCIONÁLNÍ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600" y="1079999"/>
            <a:ext cx="2592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SERIES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600" y="1403999"/>
            <a:ext cx="2592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Calibri"/>
              </a:rPr>
              <a:t>Q1 2028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600" y="1727999"/>
            <a:ext cx="2592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15–20M CZK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600" y="2231999"/>
            <a:ext cx="25923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70-90M pre-money
18-22% equity
ORO: bootstrap-to-exit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40600" y="4175999"/>
            <a:ext cx="2664300" cy="79200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12600" y="4211999"/>
            <a:ext cx="25923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Calibri"/>
              </a:rPr>
              <a:t>Použití: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600" y="4391999"/>
            <a:ext cx="25923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alibri"/>
              </a:rPr>
              <a:t>Mezinárodní
expanze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08900" y="935999"/>
            <a:ext cx="2004300" cy="41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08900" y="935999"/>
            <a:ext cx="90000" cy="414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88900" y="1115999"/>
            <a:ext cx="18243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F97316"/>
                </a:solidFill>
                <a:latin typeface="Calibri"/>
              </a:rPr>
              <a:t>Klíčové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S 30 gymy do Dec 2026 →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97316"/>
                </a:solidFill>
                <a:latin typeface="Calibri"/>
              </a:rPr>
              <a:t>break-even Q1 2027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C0D5EC"/>
                </a:solidFill>
                <a:latin typeface="Calibri"/>
              </a:rPr>
              <a:t>Newton není nutný k přežití.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C0D5EC"/>
                </a:solidFill>
                <a:latin typeface="Calibri"/>
              </a:rPr>
              <a:t>Fundraising = akcelerační páka,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C0D5EC"/>
                </a:solidFill>
                <a:latin typeface="Calibri"/>
              </a:rPr>
              <a:t>ne podmínka přežití.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Konkurenční pozice: Pumplo vs. světoví hráči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35999"/>
            <a:ext cx="172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043999"/>
            <a:ext cx="16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Konkurent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0" y="935999"/>
            <a:ext cx="1584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6000" y="1043999"/>
            <a:ext cx="1584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Cena/měs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0" y="935999"/>
            <a:ext cx="172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0" y="1043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CEE lokalizace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8000" y="935999"/>
            <a:ext cx="172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8000" y="1043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Retention 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6000" y="935999"/>
            <a:ext cx="1655999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6000" y="1043999"/>
            <a:ext cx="1655999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Mobile-first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1999" y="935999"/>
            <a:ext cx="190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1999" y="1043999"/>
            <a:ext cx="190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Pumplo výhoda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1493999"/>
            <a:ext cx="172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1601999"/>
            <a:ext cx="16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Virtuagym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6000" y="1493999"/>
            <a:ext cx="1584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6000" y="1601999"/>
            <a:ext cx="1584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2–6K CZK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0" y="1493999"/>
            <a:ext cx="172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0" y="1601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8000" y="1493999"/>
            <a:ext cx="172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8000" y="1601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6000" y="1493999"/>
            <a:ext cx="1655999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6000" y="1601999"/>
            <a:ext cx="1655999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11999" y="1493999"/>
            <a:ext cx="190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1999" y="1601999"/>
            <a:ext cx="190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A34A"/>
                </a:solidFill>
                <a:latin typeface="Calibri"/>
              </a:rPr>
              <a:t>✓✓✓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2051999"/>
            <a:ext cx="172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000" y="2159999"/>
            <a:ext cx="16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PerfectGym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6000" y="2051999"/>
            <a:ext cx="1584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6000" y="2159999"/>
            <a:ext cx="1584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5–15K CZK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0" y="2051999"/>
            <a:ext cx="172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0000" y="2159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Částečně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28000" y="2051999"/>
            <a:ext cx="172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28000" y="2159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6000" y="2051999"/>
            <a:ext cx="1655999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6000" y="2159999"/>
            <a:ext cx="1655999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11999" y="2051999"/>
            <a:ext cx="190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1999" y="2159999"/>
            <a:ext cx="190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A34A"/>
                </a:solidFill>
                <a:latin typeface="Calibri"/>
              </a:rPr>
              <a:t>✓✓✓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00" y="2609999"/>
            <a:ext cx="172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000" y="2717999"/>
            <a:ext cx="16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Mindbody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6000" y="2609999"/>
            <a:ext cx="1584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6000" y="2717999"/>
            <a:ext cx="1584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7–20K CZK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0000" y="2609999"/>
            <a:ext cx="172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00000" y="2717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8000" y="2609999"/>
            <a:ext cx="172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28000" y="2717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6000" y="2609999"/>
            <a:ext cx="1655999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56000" y="2717999"/>
            <a:ext cx="1655999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999" y="2609999"/>
            <a:ext cx="1908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11999" y="2717999"/>
            <a:ext cx="190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A34A"/>
                </a:solidFill>
                <a:latin typeface="Calibri"/>
              </a:rPr>
              <a:t>✓✓✓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000" y="3167999"/>
            <a:ext cx="172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6000" y="3275999"/>
            <a:ext cx="16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FitSW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6000" y="3167999"/>
            <a:ext cx="1584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16000" y="3275999"/>
            <a:ext cx="1584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~2,5K CZK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00000" y="3167999"/>
            <a:ext cx="172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00000" y="3275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28000" y="3167999"/>
            <a:ext cx="172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28000" y="3275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6000" y="3167999"/>
            <a:ext cx="1655999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56000" y="3275999"/>
            <a:ext cx="1655999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11999" y="3167999"/>
            <a:ext cx="1908000" cy="558000"/>
          </a:xfrm>
          <a:prstGeom prst="rect">
            <a:avLst/>
          </a:prstGeom>
          <a:solidFill>
            <a:srgbClr val="E0ECF8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11999" y="3275999"/>
            <a:ext cx="190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A34A"/>
                </a:solidFill>
                <a:latin typeface="Calibri"/>
              </a:rPr>
              <a:t>✓✓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00" y="3725999"/>
            <a:ext cx="172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6000" y="3833999"/>
            <a:ext cx="16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Pumplo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6000" y="3725999"/>
            <a:ext cx="1584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16000" y="3833999"/>
            <a:ext cx="1584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5K CZK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00000" y="3725999"/>
            <a:ext cx="172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00000" y="3833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  <a:latin typeface="Calibri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8000" y="3725999"/>
            <a:ext cx="172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28000" y="3833999"/>
            <a:ext cx="172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  <a:latin typeface="Calibri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6000" y="3725999"/>
            <a:ext cx="1655999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56000" y="3833999"/>
            <a:ext cx="1655999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  <a:latin typeface="Calibr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11999" y="3725999"/>
            <a:ext cx="1908000" cy="558000"/>
          </a:xfrm>
          <a:prstGeom prst="rect">
            <a:avLst/>
          </a:prstGeom>
          <a:solidFill>
            <a:srgbClr val="1E3A5F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11999" y="3833999"/>
            <a:ext cx="190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Exit: 250–380M CZK do roku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35999"/>
            <a:ext cx="5708736" cy="43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00" y="935999"/>
            <a:ext cx="90000" cy="43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043999"/>
            <a:ext cx="5420736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Primární acquirer: Gymbeam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439998"/>
            <a:ext cx="53127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•  #1 CEE fitness e-commerce (CZ, SK, PL, HU, 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087998"/>
            <a:ext cx="53127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•  Tisíce posiloven jako distribuční kanál suplementů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735998"/>
            <a:ext cx="53127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•  Pumplo přidá: SaaS MRR + 120 000 member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383998"/>
            <a:ext cx="53127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•  Cross-sell uplift 3-5× → payback akvizice ~18 měs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4031998"/>
            <a:ext cx="531273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D5EC"/>
                </a:solidFill>
                <a:latin typeface="Calibri"/>
              </a:rPr>
              <a:t>•  Defensive move vs. Decathlon / Mindbody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4535999"/>
            <a:ext cx="542073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Alternativní: PE fond (25%)  ·  Decathlon (20%)  ·  Mindbody (15%)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736" y="935999"/>
            <a:ext cx="5764464" cy="12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2736" y="1025999"/>
            <a:ext cx="547646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Conservative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2736" y="1259999"/>
            <a:ext cx="5476464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ARR 30M → 150M CZK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2736" y="1691999"/>
            <a:ext cx="547646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5EC"/>
                </a:solidFill>
                <a:latin typeface="Calibri"/>
              </a:rPr>
              <a:t>5× ARR múltiplikátor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736" y="2303999"/>
            <a:ext cx="5764464" cy="12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8736" y="2303999"/>
            <a:ext cx="5764464" cy="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8736" y="3491999"/>
            <a:ext cx="5764464" cy="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2736" y="2393999"/>
            <a:ext cx="547646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Base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2736" y="2627999"/>
            <a:ext cx="5476464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ARR 47M → 305M CZK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2736" y="3059999"/>
            <a:ext cx="547646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6,5× ARR múltiplikátor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736" y="3671999"/>
            <a:ext cx="5764464" cy="12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2736" y="3761999"/>
            <a:ext cx="547646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Optimistic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2736" y="3995999"/>
            <a:ext cx="5476464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ARR 62M → 496M CZK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2736" y="4427999"/>
            <a:ext cx="547646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5EC"/>
                </a:solidFill>
                <a:latin typeface="Calibri"/>
              </a:rPr>
              <a:t>8× ARR múltiplikátor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8736" y="5111999"/>
            <a:ext cx="5764464" cy="503999"/>
          </a:xfrm>
          <a:prstGeom prst="rect">
            <a:avLst/>
          </a:prstGeom>
          <a:solidFill>
            <a:srgbClr val="FFE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2736" y="5165999"/>
            <a:ext cx="547646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Davidův net (base case): ~173M CZK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617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 teď? Top 5 priorit příštích 90 dní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4000"/>
            <a:ext cx="12193200" cy="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11617200" cy="936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00" y="900000"/>
            <a:ext cx="72000" cy="93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080000"/>
            <a:ext cx="540000" cy="5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098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108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Calibri"/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8000" y="1008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Launch 1. června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8000" y="1332000"/>
            <a:ext cx="1010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Calibri"/>
              </a:rPr>
              <a:t>App store schválení, Eurogym full deploy, onboarding flow finalizace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1900800"/>
            <a:ext cx="11617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1900800"/>
            <a:ext cx="72000" cy="93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000" y="2080800"/>
            <a:ext cx="540000" cy="5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20988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20808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Calibri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8000" y="20088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Newton Angels — term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8000" y="2332800"/>
            <a:ext cx="1010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Calibri"/>
              </a:rPr>
              <a:t>Do 30. června, close Q3 2026. 2% equity @ 24,5M pre-money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2901600"/>
            <a:ext cx="11617200" cy="936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2901600"/>
            <a:ext cx="72000" cy="93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" y="3081600"/>
            <a:ext cx="540000" cy="5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30996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0" y="30816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Calibri"/>
              </a:rPr>
              <a:t>🏋️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8000" y="30096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30 gymů Olomouc + Brno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8000" y="3333600"/>
            <a:ext cx="1010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Calibri"/>
              </a:rPr>
              <a:t>Sales motion start ihned po launchi. Door-to-door, David osobně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3902400"/>
            <a:ext cx="11617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00" y="3902400"/>
            <a:ext cx="72000" cy="93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000" y="4082400"/>
            <a:ext cx="540000" cy="5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000" y="41004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" y="40824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Calibr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8000" y="40104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GDPR compliance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8000" y="4334400"/>
            <a:ext cx="1010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Calibri"/>
              </a:rPr>
              <a:t>DPA template, member opt-in flow, data retention policy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4903200"/>
            <a:ext cx="11617200" cy="93600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00" y="4903200"/>
            <a:ext cx="72000" cy="93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000" y="5083200"/>
            <a:ext cx="540000" cy="5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000" y="51012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0" y="50832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Calibri"/>
              </a:rPr>
              <a:t>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28000" y="50112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Eurogym case study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28000" y="5335200"/>
            <a:ext cx="10105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Calibri"/>
              </a:rPr>
              <a:t>Retention uplift dokumentace = #1 sales tool pro všechny další gymy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00" y="6012000"/>
            <a:ext cx="11617200" cy="7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0" y="6012000"/>
            <a:ext cx="11617200" cy="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0000" y="61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  <a:latin typeface="Calibri"/>
              </a:rPr>
              <a:t>⭐  North Star: K 1. červnu 2030: 400 gymů, 3+ zemí, ARR 47M CZK, 120 000 aktivních členů.</a:t>
            </a:r>
          </a:p>
          <a:p>
            <a:pPr algn="ctr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Jsme připraveni.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09200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